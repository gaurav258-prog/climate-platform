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200" kern="0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TELLUMEN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4A7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truth of the Earth — and every decision that depends on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0" y="4572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architecture</a:t>
            </a:r>
            <a:pPr algn="r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v1.49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12700">
            <a:solidFill>
              <a:srgbClr val="24324A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80" kern="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WE OPERATE 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· planetary scale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reanalysis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057400" y="171907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AA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502920" y="191566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915668"/>
            <a:ext cx="2299899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62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0.25° · since 1940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Copernicus / ECMWF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02920" y="22037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&amp; hydrology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57400" y="22219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AA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502920" y="241858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418588"/>
            <a:ext cx="1916582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1917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km global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GloFAS · terrain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66090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27066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Fire, thermal &amp; air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057400" y="27249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AA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h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02920" y="292150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921508"/>
            <a:ext cx="1677010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2209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m · daily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FIRMS · Sentinel-3 · CAMS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502920" y="316382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502920" y="320954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&amp; optical imagery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057400" y="32278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 d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02920" y="342442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424428"/>
            <a:ext cx="2204070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2501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· revisit days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Sentinel-1 / 2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66674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02920" y="37124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 &amp; ocean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2057400" y="37307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event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02920" y="392734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927348"/>
            <a:ext cx="1245779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02793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tracks · sea state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IBTrACS · Marine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02920" y="416966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502920" y="42153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&amp; volcanic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057400" y="423367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AA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502920" y="443026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4430268"/>
            <a:ext cx="1102035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5308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catalogs + zones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USGS · GEM · GVP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67258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502920" y="47183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 &amp; reference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2057400" y="47365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→ daily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502920" y="493318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" y="4933188"/>
            <a:ext cx="1581180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503377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forest · 2.7M LEIs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Hansen · GLEIF</a:t>
            </a:r>
            <a:endParaRPr lang="en-US" sz="640" dirty="0"/>
          </a:p>
        </p:txBody>
      </p:sp>
      <p:sp>
        <p:nvSpPr>
          <p:cNvPr id="49" name="Shape 47"/>
          <p:cNvSpPr/>
          <p:nvPr/>
        </p:nvSpPr>
        <p:spPr>
          <a:xfrm>
            <a:off x="502920" y="517550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502920" y="52212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data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2057400" y="52395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02920" y="543610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7222F"/>
          </a:solidFill>
          <a:ln/>
        </p:spPr>
      </p:sp>
      <p:sp>
        <p:nvSpPr>
          <p:cNvPr id="53" name="Shape 51"/>
          <p:cNvSpPr/>
          <p:nvPr/>
        </p:nvSpPr>
        <p:spPr>
          <a:xfrm>
            <a:off x="502920" y="5436108"/>
            <a:ext cx="814548" cy="64008"/>
          </a:xfrm>
          <a:prstGeom prst="roundRect">
            <a:avLst>
              <a:gd name="adj" fmla="val 78571"/>
            </a:avLst>
          </a:prstGeom>
          <a:solidFill>
            <a:srgbClr val="7FB2E6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53669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loan-tape · SOV · EUDR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customer uploads</a:t>
            </a:r>
            <a:endParaRPr lang="en-US" sz="640" dirty="0"/>
          </a:p>
        </p:txBody>
      </p:sp>
      <p:sp>
        <p:nvSpPr>
          <p:cNvPr id="55" name="Shape 53"/>
          <p:cNvSpPr/>
          <p:nvPr/>
        </p:nvSpPr>
        <p:spPr>
          <a:xfrm>
            <a:off x="502920" y="5678424"/>
            <a:ext cx="2395728" cy="0"/>
          </a:xfrm>
          <a:prstGeom prst="line">
            <a:avLst/>
          </a:prstGeom>
          <a:noFill/>
          <a:ln w="6985">
            <a:solidFill>
              <a:srgbClr val="24324A"/>
            </a:solidFill>
            <a:prstDash val="solid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502920" y="572414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= relative data scale / volume</a:t>
            </a:r>
            <a:endParaRPr lang="en-US" sz="640" dirty="0"/>
          </a:p>
        </p:txBody>
      </p:sp>
      <p:sp>
        <p:nvSpPr>
          <p:cNvPr id="57" name="Shape 55"/>
          <p:cNvSpPr/>
          <p:nvPr/>
        </p:nvSpPr>
        <p:spPr>
          <a:xfrm>
            <a:off x="2916936" y="3520440"/>
            <a:ext cx="118872" cy="0"/>
          </a:xfrm>
          <a:prstGeom prst="line">
            <a:avLst/>
          </a:prstGeom>
          <a:noFill/>
          <a:ln w="13970">
            <a:solidFill>
              <a:srgbClr val="7FB2E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776472" y="2084832"/>
            <a:ext cx="2962656" cy="2962656"/>
          </a:xfrm>
          <a:prstGeom prst="ellipse">
            <a:avLst/>
          </a:prstGeom>
          <a:ln w="12700">
            <a:solidFill>
              <a:srgbClr val="3344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4141921" y="2450281"/>
            <a:ext cx="137160" cy="137160"/>
          </a:xfrm>
          <a:prstGeom prst="triangle">
            <a:avLst/>
          </a:prstGeom>
          <a:solidFill>
            <a:srgbClr val="7FB2E6"/>
          </a:solidFill>
          <a:ln/>
        </p:spPr>
      </p:sp>
      <p:sp>
        <p:nvSpPr>
          <p:cNvPr id="60" name="Shape 58"/>
          <p:cNvSpPr/>
          <p:nvPr/>
        </p:nvSpPr>
        <p:spPr>
          <a:xfrm rot="8100000">
            <a:off x="6236519" y="2450281"/>
            <a:ext cx="137160" cy="137160"/>
          </a:xfrm>
          <a:prstGeom prst="triangle">
            <a:avLst/>
          </a:prstGeom>
          <a:solidFill>
            <a:srgbClr val="7FB2E6"/>
          </a:solidFill>
          <a:ln/>
        </p:spPr>
      </p:sp>
      <p:sp>
        <p:nvSpPr>
          <p:cNvPr id="61" name="Shape 59"/>
          <p:cNvSpPr/>
          <p:nvPr/>
        </p:nvSpPr>
        <p:spPr>
          <a:xfrm rot="13500000">
            <a:off x="6236519" y="4544879"/>
            <a:ext cx="137160" cy="137160"/>
          </a:xfrm>
          <a:prstGeom prst="triangle">
            <a:avLst/>
          </a:prstGeom>
          <a:solidFill>
            <a:srgbClr val="7FB2E6"/>
          </a:solidFill>
          <a:ln/>
        </p:spPr>
      </p:sp>
      <p:sp>
        <p:nvSpPr>
          <p:cNvPr id="62" name="Shape 60"/>
          <p:cNvSpPr/>
          <p:nvPr/>
        </p:nvSpPr>
        <p:spPr>
          <a:xfrm rot="18900000">
            <a:off x="4141921" y="4544879"/>
            <a:ext cx="137160" cy="137160"/>
          </a:xfrm>
          <a:prstGeom prst="triangle">
            <a:avLst/>
          </a:prstGeom>
          <a:solidFill>
            <a:srgbClr val="7FB2E6"/>
          </a:solidFill>
          <a:ln/>
        </p:spPr>
      </p:sp>
      <p:sp>
        <p:nvSpPr>
          <p:cNvPr id="63" name="Shape 61"/>
          <p:cNvSpPr/>
          <p:nvPr/>
        </p:nvSpPr>
        <p:spPr>
          <a:xfrm>
            <a:off x="4507992" y="2816352"/>
            <a:ext cx="1499616" cy="1499616"/>
          </a:xfrm>
          <a:prstGeom prst="ellipse">
            <a:avLst/>
          </a:prstGeom>
          <a:solidFill>
            <a:srgbClr val="0E2237"/>
          </a:solidFill>
          <a:ln w="19050">
            <a:solidFill>
              <a:srgbClr val="7FB2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42881" y="2816352"/>
            <a:ext cx="629839" cy="1499616"/>
          </a:xfrm>
          <a:prstGeom prst="ellipse">
            <a:avLst/>
          </a:prstGeom>
          <a:ln w="9525">
            <a:solidFill>
              <a:srgbClr val="2F4C7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07992" y="3566160"/>
            <a:ext cx="1499616" cy="0"/>
          </a:xfrm>
          <a:prstGeom prst="line">
            <a:avLst/>
          </a:prstGeom>
          <a:noFill/>
          <a:ln w="9525">
            <a:solidFill>
              <a:srgbClr val="2F4C7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spc="100" kern="0" dirty="0">
                <a:solidFill>
                  <a:srgbClr val="AA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SOURCE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452628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truth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Earth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526280" y="3840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append-only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3063240" y="3200400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41E2C"/>
          </a:solidFill>
          <a:ln w="9525">
            <a:solidFill>
              <a:srgbClr val="2432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91256" y="3310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B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538728" y="33192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3191256" y="36758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address, any hazard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44568" y="1719072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41E2C"/>
          </a:solidFill>
          <a:ln w="9525">
            <a:solidFill>
              <a:srgbClr val="2432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7258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B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020056" y="18379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4672584" y="21945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hazard · € at risk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025896" y="3200400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41E2C"/>
          </a:solidFill>
          <a:ln w="9525">
            <a:solidFill>
              <a:srgbClr val="2432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53912" y="3310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B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501384" y="33192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153912" y="36758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+ CMIP6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544568" y="4681728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41E2C"/>
          </a:solidFill>
          <a:ln w="9525">
            <a:solidFill>
              <a:srgbClr val="2432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72584" y="4791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B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020056" y="48006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4672584" y="51572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· adapt · file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337560" y="55504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i="1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Any-Address engine · Calibration &amp; Grades A–E · Projections · Reference Resolver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7470648" y="3566160"/>
            <a:ext cx="201168" cy="0"/>
          </a:xfrm>
          <a:prstGeom prst="line">
            <a:avLst/>
          </a:prstGeom>
          <a:noFill/>
          <a:ln w="15240">
            <a:solidFill>
              <a:srgbClr val="72C8DE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7671816" y="3054096"/>
            <a:ext cx="1024128" cy="1024128"/>
          </a:xfrm>
          <a:prstGeom prst="ellipse">
            <a:avLst/>
          </a:prstGeom>
          <a:solidFill>
            <a:srgbClr val="0F2230"/>
          </a:solidFill>
          <a:ln w="19050">
            <a:solidFill>
              <a:srgbClr val="72C8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71816" y="325526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spc="50" kern="0" dirty="0">
                <a:solidFill>
                  <a:srgbClr val="72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GATE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671816" y="343814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≥ 0.40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7671816" y="37124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publish standard</a:t>
            </a:r>
            <a:endParaRPr lang="en-US" sz="640" dirty="0"/>
          </a:p>
        </p:txBody>
      </p:sp>
      <p:sp>
        <p:nvSpPr>
          <p:cNvPr id="91" name="Shape 89"/>
          <p:cNvSpPr/>
          <p:nvPr/>
        </p:nvSpPr>
        <p:spPr>
          <a:xfrm flipV="1">
            <a:off x="8641080" y="1828800"/>
            <a:ext cx="45720" cy="1444752"/>
          </a:xfrm>
          <a:prstGeom prst="line">
            <a:avLst/>
          </a:prstGeom>
          <a:noFill/>
          <a:ln w="12700">
            <a:solidFill>
              <a:srgbClr val="7FB2E6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641080" y="3858768"/>
            <a:ext cx="45720" cy="1444752"/>
          </a:xfrm>
          <a:prstGeom prst="line">
            <a:avLst/>
          </a:prstGeom>
          <a:noFill/>
          <a:ln w="12700">
            <a:solidFill>
              <a:srgbClr val="72C8DE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8796528" y="137160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50" kern="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— RUN THE BUSINESS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796528" y="1682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920" dirty="0"/>
          </a:p>
        </p:txBody>
      </p:sp>
      <p:sp>
        <p:nvSpPr>
          <p:cNvPr id="95" name="Text 93"/>
          <p:cNvSpPr/>
          <p:nvPr/>
        </p:nvSpPr>
        <p:spPr>
          <a:xfrm>
            <a:off x="10122408" y="168249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· supply-chain € at risk</a:t>
            </a:r>
            <a:endParaRPr lang="en-US" sz="740" dirty="0"/>
          </a:p>
        </p:txBody>
      </p:sp>
      <p:sp>
        <p:nvSpPr>
          <p:cNvPr id="96" name="Shape 94"/>
          <p:cNvSpPr/>
          <p:nvPr/>
        </p:nvSpPr>
        <p:spPr>
          <a:xfrm>
            <a:off x="8796528" y="1965960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97" name="Text 95"/>
          <p:cNvSpPr/>
          <p:nvPr/>
        </p:nvSpPr>
        <p:spPr>
          <a:xfrm>
            <a:off x="8796528" y="20482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10122408" y="204825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financed physical risk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8796528" y="2331720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00" name="Text 98"/>
          <p:cNvSpPr/>
          <p:nvPr/>
        </p:nvSpPr>
        <p:spPr>
          <a:xfrm>
            <a:off x="8796528" y="24140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920" dirty="0"/>
          </a:p>
        </p:txBody>
      </p:sp>
      <p:sp>
        <p:nvSpPr>
          <p:cNvPr id="101" name="Text 99"/>
          <p:cNvSpPr/>
          <p:nvPr/>
        </p:nvSpPr>
        <p:spPr>
          <a:xfrm>
            <a:off x="10122408" y="241401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 · claims exposure</a:t>
            </a:r>
            <a:endParaRPr lang="en-US" sz="740" dirty="0"/>
          </a:p>
        </p:txBody>
      </p:sp>
      <p:sp>
        <p:nvSpPr>
          <p:cNvPr id="102" name="Shape 100"/>
          <p:cNvSpPr/>
          <p:nvPr/>
        </p:nvSpPr>
        <p:spPr>
          <a:xfrm>
            <a:off x="8796528" y="2697480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03" name="Text 101"/>
          <p:cNvSpPr/>
          <p:nvPr/>
        </p:nvSpPr>
        <p:spPr>
          <a:xfrm>
            <a:off x="8796528" y="2779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920" dirty="0"/>
          </a:p>
        </p:txBody>
      </p:sp>
      <p:sp>
        <p:nvSpPr>
          <p:cNvPr id="104" name="Text 102"/>
          <p:cNvSpPr/>
          <p:nvPr/>
        </p:nvSpPr>
        <p:spPr>
          <a:xfrm>
            <a:off x="10122408" y="277977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SFDR PAI · Taxonomy</a:t>
            </a:r>
            <a:endParaRPr lang="en-US" sz="740" dirty="0"/>
          </a:p>
        </p:txBody>
      </p:sp>
      <p:sp>
        <p:nvSpPr>
          <p:cNvPr id="105" name="Shape 103"/>
          <p:cNvSpPr/>
          <p:nvPr/>
        </p:nvSpPr>
        <p:spPr>
          <a:xfrm>
            <a:off x="8796528" y="3063240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06" name="Text 104"/>
          <p:cNvSpPr/>
          <p:nvPr/>
        </p:nvSpPr>
        <p:spPr>
          <a:xfrm>
            <a:off x="8796528" y="31455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920" dirty="0"/>
          </a:p>
        </p:txBody>
      </p:sp>
      <p:sp>
        <p:nvSpPr>
          <p:cNvPr id="107" name="Text 105"/>
          <p:cNvSpPr/>
          <p:nvPr/>
        </p:nvSpPr>
        <p:spPr>
          <a:xfrm>
            <a:off x="10122408" y="314553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asset-level hazard</a:t>
            </a:r>
            <a:endParaRPr lang="en-US" sz="740" dirty="0"/>
          </a:p>
        </p:txBody>
      </p:sp>
      <p:sp>
        <p:nvSpPr>
          <p:cNvPr id="108" name="Shape 106"/>
          <p:cNvSpPr/>
          <p:nvPr/>
        </p:nvSpPr>
        <p:spPr>
          <a:xfrm>
            <a:off x="8796528" y="3429000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09" name="Text 107"/>
          <p:cNvSpPr/>
          <p:nvPr/>
        </p:nvSpPr>
        <p:spPr>
          <a:xfrm>
            <a:off x="8796528" y="358444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50" kern="0" dirty="0">
                <a:solidFill>
                  <a:srgbClr val="72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 — SATISFY THE LAW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796528" y="38953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 · ESRS</a:t>
            </a:r>
            <a:endParaRPr lang="en-US" sz="920" dirty="0"/>
          </a:p>
        </p:txBody>
      </p:sp>
      <p:sp>
        <p:nvSpPr>
          <p:cNvPr id="111" name="Text 109"/>
          <p:cNvSpPr/>
          <p:nvPr/>
        </p:nvSpPr>
        <p:spPr>
          <a:xfrm>
            <a:off x="10122408" y="389534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E3 · E4 physical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8796528" y="4178808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13" name="Text 111"/>
          <p:cNvSpPr/>
          <p:nvPr/>
        </p:nvSpPr>
        <p:spPr>
          <a:xfrm>
            <a:off x="8796528" y="4261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Taxonomy</a:t>
            </a:r>
            <a:endParaRPr lang="en-US" sz="920" dirty="0"/>
          </a:p>
        </p:txBody>
      </p:sp>
      <p:sp>
        <p:nvSpPr>
          <p:cNvPr id="114" name="Text 112"/>
          <p:cNvSpPr/>
          <p:nvPr/>
        </p:nvSpPr>
        <p:spPr>
          <a:xfrm>
            <a:off x="10122408" y="426110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8 adaptation</a:t>
            </a:r>
            <a:endParaRPr lang="en-US" sz="740" dirty="0"/>
          </a:p>
        </p:txBody>
      </p:sp>
      <p:sp>
        <p:nvSpPr>
          <p:cNvPr id="115" name="Shape 113"/>
          <p:cNvSpPr/>
          <p:nvPr/>
        </p:nvSpPr>
        <p:spPr>
          <a:xfrm>
            <a:off x="8796528" y="4544568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16" name="Text 114"/>
          <p:cNvSpPr/>
          <p:nvPr/>
        </p:nvSpPr>
        <p:spPr>
          <a:xfrm>
            <a:off x="8796528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EUDR</a:t>
            </a:r>
            <a:endParaRPr lang="en-US" sz="920" dirty="0"/>
          </a:p>
        </p:txBody>
      </p:sp>
      <p:sp>
        <p:nvSpPr>
          <p:cNvPr id="117" name="Text 115"/>
          <p:cNvSpPr/>
          <p:nvPr/>
        </p:nvSpPr>
        <p:spPr>
          <a:xfrm>
            <a:off x="10122408" y="462686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per-plot DDS → TRACES</a:t>
            </a:r>
            <a:endParaRPr lang="en-US" sz="740" dirty="0"/>
          </a:p>
        </p:txBody>
      </p:sp>
      <p:sp>
        <p:nvSpPr>
          <p:cNvPr id="118" name="Shape 116"/>
          <p:cNvSpPr/>
          <p:nvPr/>
        </p:nvSpPr>
        <p:spPr>
          <a:xfrm>
            <a:off x="8796528" y="4910328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19" name="Text 117"/>
          <p:cNvSpPr/>
          <p:nvPr/>
        </p:nvSpPr>
        <p:spPr>
          <a:xfrm>
            <a:off x="8796528" y="49926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SFDR · PAI</a:t>
            </a:r>
            <a:endParaRPr lang="en-US" sz="920" dirty="0"/>
          </a:p>
        </p:txBody>
      </p:sp>
      <p:sp>
        <p:nvSpPr>
          <p:cNvPr id="120" name="Text 118"/>
          <p:cNvSpPr/>
          <p:nvPr/>
        </p:nvSpPr>
        <p:spPr>
          <a:xfrm>
            <a:off x="10122408" y="499262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verticals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8796528" y="5276088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22" name="Text 120"/>
          <p:cNvSpPr/>
          <p:nvPr/>
        </p:nvSpPr>
        <p:spPr>
          <a:xfrm>
            <a:off x="8796528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iXBRL · Assurance</a:t>
            </a:r>
            <a:endParaRPr lang="en-US" sz="920" dirty="0"/>
          </a:p>
        </p:txBody>
      </p:sp>
      <p:sp>
        <p:nvSpPr>
          <p:cNvPr id="123" name="Text 121"/>
          <p:cNvSpPr/>
          <p:nvPr/>
        </p:nvSpPr>
        <p:spPr>
          <a:xfrm>
            <a:off x="10122408" y="535838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ESEF filing · evidence pack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8796528" y="5641848"/>
            <a:ext cx="2889504" cy="0"/>
          </a:xfrm>
          <a:prstGeom prst="line">
            <a:avLst/>
          </a:prstGeom>
          <a:noFill/>
          <a:ln w="9525">
            <a:solidFill>
              <a:srgbClr val="24324A"/>
            </a:solidFill>
            <a:prstDash val="solid"/>
            <a:tailEnd type="none"/>
          </a:ln>
        </p:spPr>
      </p:sp>
      <p:sp>
        <p:nvSpPr>
          <p:cNvPr id="125" name="Text 123"/>
          <p:cNvSpPr/>
          <p:nvPr/>
        </p:nvSpPr>
        <p:spPr>
          <a:xfrm>
            <a:off x="8796528" y="57972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regulator verifies the same truth</a:t>
            </a:r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72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next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502920" y="6089904"/>
            <a:ext cx="11183112" cy="0"/>
          </a:xfrm>
          <a:prstGeom prst="line">
            <a:avLst/>
          </a:prstGeom>
          <a:noFill/>
          <a:ln w="12700">
            <a:solidFill>
              <a:srgbClr val="24324A"/>
            </a:solidFill>
            <a:prstDash val="solid"/>
            <a:tailEnd type="none"/>
          </a:ln>
        </p:spPr>
      </p:sp>
      <p:sp>
        <p:nvSpPr>
          <p:cNvPr id="127" name="Text 125"/>
          <p:cNvSpPr/>
          <p:nvPr/>
        </p:nvSpPr>
        <p:spPr>
          <a:xfrm>
            <a:off x="502920" y="6199632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END-TO-END   </a:t>
            </a:r>
            <a:pPr algn="l" indent="0" marL="0">
              <a:lnSpc>
                <a:spcPct val="100000"/>
              </a:lnSpc>
              <a:buNone/>
            </a:pPr>
            <a:r>
              <a:rPr lang="en-US" sz="800" spc="50" kern="0" dirty="0">
                <a:solidFill>
                  <a:srgbClr val="94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· four-eyes approvals · immutable report snapshots · full audit trail · configurable reporting basis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200" kern="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TELLUMEN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7315200" y="6510528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spc="200" kern="0" dirty="0">
                <a:solidFill>
                  <a:srgbClr val="63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2026-07-31T08:58:18Z</dcterms:created>
  <dcterms:modified xsi:type="dcterms:W3CDTF">2026-07-31T08:58:18Z</dcterms:modified>
</cp:coreProperties>
</file>