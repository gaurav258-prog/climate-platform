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4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spc="200" kern="0" dirty="0">
                <a:solidFill>
                  <a:srgbClr val="ED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TELLUMEN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93A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truth of the Earth — and every decision that depends on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0" y="45720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spc="100" kern="0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architecture</a:t>
            </a:r>
            <a:pPr algn="r" indent="0" marL="0">
              <a:lnSpc>
                <a:spcPct val="100000"/>
              </a:lnSpc>
              <a:buNone/>
            </a:pPr>
            <a:r>
              <a:rPr lang="en-US" sz="1000" b="1" spc="100" kern="0" dirty="0">
                <a:solidFill>
                  <a:srgbClr val="79B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v1.49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3112" cy="0"/>
          </a:xfrm>
          <a:prstGeom prst="line">
            <a:avLst/>
          </a:prstGeom>
          <a:noFill/>
          <a:ln w="12700">
            <a:solidFill>
              <a:srgbClr val="27352E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180" kern="0" dirty="0">
                <a:solidFill>
                  <a:srgbClr val="79B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WE OPERATE 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near-real-time · planetary scale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502920" y="170078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ED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reanalysis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2057400" y="171907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9AD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502920" y="1915668"/>
            <a:ext cx="2395728" cy="64008"/>
          </a:xfrm>
          <a:prstGeom prst="roundRect">
            <a:avLst>
              <a:gd name="adj" fmla="val 78571"/>
            </a:avLst>
          </a:prstGeom>
          <a:solidFill>
            <a:srgbClr val="1B2620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915668"/>
            <a:ext cx="2299899" cy="64008"/>
          </a:xfrm>
          <a:prstGeom prst="roundRect">
            <a:avLst>
              <a:gd name="adj" fmla="val 78571"/>
            </a:avLst>
          </a:prstGeom>
          <a:solidFill>
            <a:srgbClr val="79B79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016252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i="1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0.25° · since 1940</a:t>
            </a:r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3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Copernicus / ECMWF</a:t>
            </a:r>
            <a:endParaRPr lang="en-US" sz="640" dirty="0"/>
          </a:p>
        </p:txBody>
      </p:sp>
      <p:sp>
        <p:nvSpPr>
          <p:cNvPr id="13" name="Shape 11"/>
          <p:cNvSpPr/>
          <p:nvPr/>
        </p:nvSpPr>
        <p:spPr>
          <a:xfrm>
            <a:off x="502920" y="2157984"/>
            <a:ext cx="2395728" cy="0"/>
          </a:xfrm>
          <a:prstGeom prst="line">
            <a:avLst/>
          </a:prstGeom>
          <a:noFill/>
          <a:ln w="6985">
            <a:solidFill>
              <a:srgbClr val="27352E"/>
            </a:solidFill>
            <a:prstDash val="solid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502920" y="220370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ED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 &amp; hydrology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2057400" y="222199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9AD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502920" y="2418588"/>
            <a:ext cx="2395728" cy="64008"/>
          </a:xfrm>
          <a:prstGeom prst="roundRect">
            <a:avLst>
              <a:gd name="adj" fmla="val 78571"/>
            </a:avLst>
          </a:prstGeom>
          <a:solidFill>
            <a:srgbClr val="1B2620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2418588"/>
            <a:ext cx="1916582" cy="64008"/>
          </a:xfrm>
          <a:prstGeom prst="roundRect">
            <a:avLst>
              <a:gd name="adj" fmla="val 78571"/>
            </a:avLst>
          </a:prstGeom>
          <a:solidFill>
            <a:srgbClr val="79B79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519172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i="1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km global</a:t>
            </a:r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3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GloFAS · terrain</a:t>
            </a:r>
            <a:endParaRPr lang="en-US" sz="640" dirty="0"/>
          </a:p>
        </p:txBody>
      </p:sp>
      <p:sp>
        <p:nvSpPr>
          <p:cNvPr id="19" name="Shape 17"/>
          <p:cNvSpPr/>
          <p:nvPr/>
        </p:nvSpPr>
        <p:spPr>
          <a:xfrm>
            <a:off x="502920" y="2660904"/>
            <a:ext cx="2395728" cy="0"/>
          </a:xfrm>
          <a:prstGeom prst="line">
            <a:avLst/>
          </a:prstGeom>
          <a:noFill/>
          <a:ln w="6985">
            <a:solidFill>
              <a:srgbClr val="27352E"/>
            </a:solidFill>
            <a:prstDash val="solid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502920" y="270662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ED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Fire, thermal &amp; air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2057400" y="272491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9AD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 h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502920" y="2921508"/>
            <a:ext cx="2395728" cy="64008"/>
          </a:xfrm>
          <a:prstGeom prst="roundRect">
            <a:avLst>
              <a:gd name="adj" fmla="val 78571"/>
            </a:avLst>
          </a:prstGeom>
          <a:solidFill>
            <a:srgbClr val="1B2620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2921508"/>
            <a:ext cx="1677010" cy="64008"/>
          </a:xfrm>
          <a:prstGeom prst="roundRect">
            <a:avLst>
              <a:gd name="adj" fmla="val 78571"/>
            </a:avLst>
          </a:prstGeom>
          <a:solidFill>
            <a:srgbClr val="79B79B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022092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i="1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375 m · daily</a:t>
            </a:r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3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FIRMS · Sentinel-3 · CAMS</a:t>
            </a:r>
            <a:endParaRPr lang="en-US" sz="640" dirty="0"/>
          </a:p>
        </p:txBody>
      </p:sp>
      <p:sp>
        <p:nvSpPr>
          <p:cNvPr id="25" name="Shape 23"/>
          <p:cNvSpPr/>
          <p:nvPr/>
        </p:nvSpPr>
        <p:spPr>
          <a:xfrm>
            <a:off x="502920" y="3163824"/>
            <a:ext cx="2395728" cy="0"/>
          </a:xfrm>
          <a:prstGeom prst="line">
            <a:avLst/>
          </a:prstGeom>
          <a:noFill/>
          <a:ln w="6985">
            <a:solidFill>
              <a:srgbClr val="27352E"/>
            </a:solidFill>
            <a:prstDash val="solid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502920" y="320954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ED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&amp; optical imagery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2057400" y="322783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79B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5 d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502920" y="3424428"/>
            <a:ext cx="2395728" cy="64008"/>
          </a:xfrm>
          <a:prstGeom prst="roundRect">
            <a:avLst>
              <a:gd name="adj" fmla="val 78571"/>
            </a:avLst>
          </a:prstGeom>
          <a:solidFill>
            <a:srgbClr val="1B2620"/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" y="3424428"/>
            <a:ext cx="2204070" cy="64008"/>
          </a:xfrm>
          <a:prstGeom prst="roundRect">
            <a:avLst>
              <a:gd name="adj" fmla="val 78571"/>
            </a:avLst>
          </a:prstGeom>
          <a:solidFill>
            <a:srgbClr val="79B79B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525012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i="1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 · revisit days</a:t>
            </a:r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3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Sentinel-1 / 2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502920" y="3666744"/>
            <a:ext cx="2395728" cy="0"/>
          </a:xfrm>
          <a:prstGeom prst="line">
            <a:avLst/>
          </a:prstGeom>
          <a:noFill/>
          <a:ln w="6985">
            <a:solidFill>
              <a:srgbClr val="27352E"/>
            </a:solidFill>
            <a:prstDash val="solid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502920" y="371246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ED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Storms &amp; ocean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2057400" y="373075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79B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event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502920" y="3927348"/>
            <a:ext cx="2395728" cy="64008"/>
          </a:xfrm>
          <a:prstGeom prst="roundRect">
            <a:avLst>
              <a:gd name="adj" fmla="val 78571"/>
            </a:avLst>
          </a:prstGeom>
          <a:solidFill>
            <a:srgbClr val="1B2620"/>
          </a:solidFill>
          <a:ln/>
        </p:spPr>
      </p:sp>
      <p:sp>
        <p:nvSpPr>
          <p:cNvPr id="35" name="Shape 33"/>
          <p:cNvSpPr/>
          <p:nvPr/>
        </p:nvSpPr>
        <p:spPr>
          <a:xfrm>
            <a:off x="502920" y="3927348"/>
            <a:ext cx="1245779" cy="64008"/>
          </a:xfrm>
          <a:prstGeom prst="roundRect">
            <a:avLst>
              <a:gd name="adj" fmla="val 78571"/>
            </a:avLst>
          </a:prstGeom>
          <a:solidFill>
            <a:srgbClr val="79B79B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4027932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i="1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cyclone tracks · sea state</a:t>
            </a:r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3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IBTrACS · Marine</a:t>
            </a:r>
            <a:endParaRPr lang="en-US" sz="640" dirty="0"/>
          </a:p>
        </p:txBody>
      </p:sp>
      <p:sp>
        <p:nvSpPr>
          <p:cNvPr id="37" name="Shape 35"/>
          <p:cNvSpPr/>
          <p:nvPr/>
        </p:nvSpPr>
        <p:spPr>
          <a:xfrm>
            <a:off x="502920" y="4169664"/>
            <a:ext cx="2395728" cy="0"/>
          </a:xfrm>
          <a:prstGeom prst="line">
            <a:avLst/>
          </a:prstGeom>
          <a:noFill/>
          <a:ln w="6985">
            <a:solidFill>
              <a:srgbClr val="27352E"/>
            </a:solidFill>
            <a:prstDash val="solid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502920" y="421538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ED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Seismic &amp; volcanic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2057400" y="423367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9AD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502920" y="4430268"/>
            <a:ext cx="2395728" cy="64008"/>
          </a:xfrm>
          <a:prstGeom prst="roundRect">
            <a:avLst>
              <a:gd name="adj" fmla="val 78571"/>
            </a:avLst>
          </a:prstGeom>
          <a:solidFill>
            <a:srgbClr val="1B2620"/>
          </a:solidFill>
          <a:ln/>
        </p:spPr>
      </p:sp>
      <p:sp>
        <p:nvSpPr>
          <p:cNvPr id="41" name="Shape 39"/>
          <p:cNvSpPr/>
          <p:nvPr/>
        </p:nvSpPr>
        <p:spPr>
          <a:xfrm>
            <a:off x="502920" y="4430268"/>
            <a:ext cx="1102035" cy="64008"/>
          </a:xfrm>
          <a:prstGeom prst="roundRect">
            <a:avLst>
              <a:gd name="adj" fmla="val 78571"/>
            </a:avLst>
          </a:prstGeom>
          <a:solidFill>
            <a:srgbClr val="79B79B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4530852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i="1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catalogs + zones</a:t>
            </a:r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3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USGS · GEM · GVP</a:t>
            </a:r>
            <a:endParaRPr lang="en-US" sz="640" dirty="0"/>
          </a:p>
        </p:txBody>
      </p:sp>
      <p:sp>
        <p:nvSpPr>
          <p:cNvPr id="43" name="Shape 41"/>
          <p:cNvSpPr/>
          <p:nvPr/>
        </p:nvSpPr>
        <p:spPr>
          <a:xfrm>
            <a:off x="502920" y="4672584"/>
            <a:ext cx="2395728" cy="0"/>
          </a:xfrm>
          <a:prstGeom prst="line">
            <a:avLst/>
          </a:prstGeom>
          <a:noFill/>
          <a:ln w="6985">
            <a:solidFill>
              <a:srgbClr val="27352E"/>
            </a:solidFill>
            <a:prstDash val="solid"/>
            <a:tailEnd type="none"/>
          </a:ln>
        </p:spPr>
      </p:sp>
      <p:sp>
        <p:nvSpPr>
          <p:cNvPr id="44" name="Text 42"/>
          <p:cNvSpPr/>
          <p:nvPr/>
        </p:nvSpPr>
        <p:spPr>
          <a:xfrm>
            <a:off x="502920" y="471830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ED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Deforestation &amp; reference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2057400" y="473659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63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→ daily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502920" y="4933188"/>
            <a:ext cx="2395728" cy="64008"/>
          </a:xfrm>
          <a:prstGeom prst="roundRect">
            <a:avLst>
              <a:gd name="adj" fmla="val 78571"/>
            </a:avLst>
          </a:prstGeom>
          <a:solidFill>
            <a:srgbClr val="1B2620"/>
          </a:solidFill>
          <a:ln/>
        </p:spPr>
      </p:sp>
      <p:sp>
        <p:nvSpPr>
          <p:cNvPr id="47" name="Shape 45"/>
          <p:cNvSpPr/>
          <p:nvPr/>
        </p:nvSpPr>
        <p:spPr>
          <a:xfrm>
            <a:off x="502920" y="4933188"/>
            <a:ext cx="1581180" cy="64008"/>
          </a:xfrm>
          <a:prstGeom prst="roundRect">
            <a:avLst>
              <a:gd name="adj" fmla="val 78571"/>
            </a:avLst>
          </a:prstGeom>
          <a:solidFill>
            <a:srgbClr val="79B79B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5033772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i="1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 forest · 2.7M LEIs</a:t>
            </a:r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3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Hansen · GLEIF</a:t>
            </a:r>
            <a:endParaRPr lang="en-US" sz="640" dirty="0"/>
          </a:p>
        </p:txBody>
      </p:sp>
      <p:sp>
        <p:nvSpPr>
          <p:cNvPr id="49" name="Shape 47"/>
          <p:cNvSpPr/>
          <p:nvPr/>
        </p:nvSpPr>
        <p:spPr>
          <a:xfrm>
            <a:off x="502920" y="5175504"/>
            <a:ext cx="2395728" cy="0"/>
          </a:xfrm>
          <a:prstGeom prst="line">
            <a:avLst/>
          </a:prstGeom>
          <a:noFill/>
          <a:ln w="6985">
            <a:solidFill>
              <a:srgbClr val="27352E"/>
            </a:solidFill>
            <a:prstDash val="solid"/>
            <a:tailEnd type="none"/>
          </a:ln>
        </p:spPr>
      </p:sp>
      <p:sp>
        <p:nvSpPr>
          <p:cNvPr id="50" name="Text 48"/>
          <p:cNvSpPr/>
          <p:nvPr/>
        </p:nvSpPr>
        <p:spPr>
          <a:xfrm>
            <a:off x="502920" y="522122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ED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data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2057400" y="523951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63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demand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502920" y="5436108"/>
            <a:ext cx="2395728" cy="64008"/>
          </a:xfrm>
          <a:prstGeom prst="roundRect">
            <a:avLst>
              <a:gd name="adj" fmla="val 78571"/>
            </a:avLst>
          </a:prstGeom>
          <a:solidFill>
            <a:srgbClr val="1B2620"/>
          </a:solidFill>
          <a:ln/>
        </p:spPr>
      </p:sp>
      <p:sp>
        <p:nvSpPr>
          <p:cNvPr id="53" name="Shape 51"/>
          <p:cNvSpPr/>
          <p:nvPr/>
        </p:nvSpPr>
        <p:spPr>
          <a:xfrm>
            <a:off x="502920" y="5436108"/>
            <a:ext cx="814548" cy="64008"/>
          </a:xfrm>
          <a:prstGeom prst="roundRect">
            <a:avLst>
              <a:gd name="adj" fmla="val 78571"/>
            </a:avLst>
          </a:prstGeom>
          <a:solidFill>
            <a:srgbClr val="79B79B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5536692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i="1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loan-tape · SOV · EUDR</a:t>
            </a:r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3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customer uploads</a:t>
            </a:r>
            <a:endParaRPr lang="en-US" sz="640" dirty="0"/>
          </a:p>
        </p:txBody>
      </p:sp>
      <p:sp>
        <p:nvSpPr>
          <p:cNvPr id="55" name="Shape 53"/>
          <p:cNvSpPr/>
          <p:nvPr/>
        </p:nvSpPr>
        <p:spPr>
          <a:xfrm>
            <a:off x="502920" y="5678424"/>
            <a:ext cx="2395728" cy="0"/>
          </a:xfrm>
          <a:prstGeom prst="line">
            <a:avLst/>
          </a:prstGeom>
          <a:noFill/>
          <a:ln w="6985">
            <a:solidFill>
              <a:srgbClr val="27352E"/>
            </a:solidFill>
            <a:prstDash val="solid"/>
            <a:tailEnd type="none"/>
          </a:ln>
        </p:spPr>
      </p:sp>
      <p:sp>
        <p:nvSpPr>
          <p:cNvPr id="56" name="Text 54"/>
          <p:cNvSpPr/>
          <p:nvPr/>
        </p:nvSpPr>
        <p:spPr>
          <a:xfrm>
            <a:off x="502920" y="5724144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i="1" dirty="0">
                <a:solidFill>
                  <a:srgbClr val="63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= relative data scale / volume</a:t>
            </a:r>
            <a:endParaRPr lang="en-US" sz="640" dirty="0"/>
          </a:p>
        </p:txBody>
      </p:sp>
      <p:sp>
        <p:nvSpPr>
          <p:cNvPr id="57" name="Shape 55"/>
          <p:cNvSpPr/>
          <p:nvPr/>
        </p:nvSpPr>
        <p:spPr>
          <a:xfrm>
            <a:off x="2916936" y="3520440"/>
            <a:ext cx="118872" cy="0"/>
          </a:xfrm>
          <a:prstGeom prst="line">
            <a:avLst/>
          </a:prstGeom>
          <a:noFill/>
          <a:ln w="13970">
            <a:solidFill>
              <a:srgbClr val="79B79B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3776472" y="2084832"/>
            <a:ext cx="2962656" cy="2962656"/>
          </a:xfrm>
          <a:prstGeom prst="ellipse">
            <a:avLst/>
          </a:prstGeom>
          <a:ln w="12700">
            <a:solidFill>
              <a:srgbClr val="34453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2700000">
            <a:off x="4141921" y="2450281"/>
            <a:ext cx="137160" cy="137160"/>
          </a:xfrm>
          <a:prstGeom prst="triangle">
            <a:avLst/>
          </a:prstGeom>
          <a:solidFill>
            <a:srgbClr val="79B79B"/>
          </a:solidFill>
          <a:ln/>
        </p:spPr>
      </p:sp>
      <p:sp>
        <p:nvSpPr>
          <p:cNvPr id="60" name="Shape 58"/>
          <p:cNvSpPr/>
          <p:nvPr/>
        </p:nvSpPr>
        <p:spPr>
          <a:xfrm rot="8100000">
            <a:off x="6236519" y="2450281"/>
            <a:ext cx="137160" cy="137160"/>
          </a:xfrm>
          <a:prstGeom prst="triangle">
            <a:avLst/>
          </a:prstGeom>
          <a:solidFill>
            <a:srgbClr val="79B79B"/>
          </a:solidFill>
          <a:ln/>
        </p:spPr>
      </p:sp>
      <p:sp>
        <p:nvSpPr>
          <p:cNvPr id="61" name="Shape 59"/>
          <p:cNvSpPr/>
          <p:nvPr/>
        </p:nvSpPr>
        <p:spPr>
          <a:xfrm rot="13500000">
            <a:off x="6236519" y="4544879"/>
            <a:ext cx="137160" cy="137160"/>
          </a:xfrm>
          <a:prstGeom prst="triangle">
            <a:avLst/>
          </a:prstGeom>
          <a:solidFill>
            <a:srgbClr val="79B79B"/>
          </a:solidFill>
          <a:ln/>
        </p:spPr>
      </p:sp>
      <p:sp>
        <p:nvSpPr>
          <p:cNvPr id="62" name="Shape 60"/>
          <p:cNvSpPr/>
          <p:nvPr/>
        </p:nvSpPr>
        <p:spPr>
          <a:xfrm rot="18900000">
            <a:off x="4141921" y="4544879"/>
            <a:ext cx="137160" cy="137160"/>
          </a:xfrm>
          <a:prstGeom prst="triangle">
            <a:avLst/>
          </a:prstGeom>
          <a:solidFill>
            <a:srgbClr val="79B79B"/>
          </a:solidFill>
          <a:ln/>
        </p:spPr>
      </p:sp>
      <p:sp>
        <p:nvSpPr>
          <p:cNvPr id="63" name="Shape 61"/>
          <p:cNvSpPr/>
          <p:nvPr/>
        </p:nvSpPr>
        <p:spPr>
          <a:xfrm>
            <a:off x="4507992" y="2816352"/>
            <a:ext cx="1499616" cy="1499616"/>
          </a:xfrm>
          <a:prstGeom prst="ellipse">
            <a:avLst/>
          </a:prstGeom>
          <a:solidFill>
            <a:srgbClr val="102A1F"/>
          </a:solidFill>
          <a:ln w="19050">
            <a:solidFill>
              <a:srgbClr val="79B79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42881" y="2816352"/>
            <a:ext cx="629839" cy="1499616"/>
          </a:xfrm>
          <a:prstGeom prst="ellipse">
            <a:avLst/>
          </a:prstGeom>
          <a:ln w="9525">
            <a:solidFill>
              <a:srgbClr val="2C5E4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07992" y="3566160"/>
            <a:ext cx="1499616" cy="0"/>
          </a:xfrm>
          <a:prstGeom prst="line">
            <a:avLst/>
          </a:prstGeom>
          <a:noFill/>
          <a:ln w="9525">
            <a:solidFill>
              <a:srgbClr val="2C5E4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26280" y="31821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0" b="1" spc="100" kern="0" dirty="0">
                <a:solidFill>
                  <a:srgbClr val="9AD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SOURCE</a:t>
            </a:r>
            <a:endParaRPr lang="en-US" sz="840" dirty="0"/>
          </a:p>
        </p:txBody>
      </p:sp>
      <p:sp>
        <p:nvSpPr>
          <p:cNvPr id="67" name="Text 65"/>
          <p:cNvSpPr/>
          <p:nvPr/>
        </p:nvSpPr>
        <p:spPr>
          <a:xfrm>
            <a:off x="4526280" y="341985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ED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truth</a:t>
            </a:r>
            <a:endParaRPr lang="en-US" sz="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ED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Earth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526280" y="38404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63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· append-only</a:t>
            </a:r>
            <a:endParaRPr lang="en-US" sz="660" dirty="0"/>
          </a:p>
        </p:txBody>
      </p:sp>
      <p:sp>
        <p:nvSpPr>
          <p:cNvPr id="69" name="Shape 67"/>
          <p:cNvSpPr/>
          <p:nvPr/>
        </p:nvSpPr>
        <p:spPr>
          <a:xfrm>
            <a:off x="3063240" y="3200400"/>
            <a:ext cx="1426464" cy="731520"/>
          </a:xfrm>
          <a:prstGeom prst="roundRect">
            <a:avLst>
              <a:gd name="adj" fmla="val 6875"/>
            </a:avLst>
          </a:prstGeom>
          <a:solidFill>
            <a:srgbClr val="16211C"/>
          </a:solidFill>
          <a:ln w="9525">
            <a:solidFill>
              <a:srgbClr val="27352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191256" y="33101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9B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3538728" y="331927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D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1250" dirty="0"/>
          </a:p>
        </p:txBody>
      </p:sp>
      <p:sp>
        <p:nvSpPr>
          <p:cNvPr id="72" name="Text 70"/>
          <p:cNvSpPr/>
          <p:nvPr/>
        </p:nvSpPr>
        <p:spPr>
          <a:xfrm>
            <a:off x="3191256" y="367588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address, any hazard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544568" y="1719072"/>
            <a:ext cx="1426464" cy="731520"/>
          </a:xfrm>
          <a:prstGeom prst="roundRect">
            <a:avLst>
              <a:gd name="adj" fmla="val 6875"/>
            </a:avLst>
          </a:prstGeom>
          <a:solidFill>
            <a:srgbClr val="16211C"/>
          </a:solidFill>
          <a:ln w="9525">
            <a:solidFill>
              <a:srgbClr val="27352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72584" y="1828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9B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5020056" y="183794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D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4672584" y="219456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per-cell hazard · € at risk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6025896" y="3200400"/>
            <a:ext cx="1426464" cy="731520"/>
          </a:xfrm>
          <a:prstGeom prst="roundRect">
            <a:avLst>
              <a:gd name="adj" fmla="val 6875"/>
            </a:avLst>
          </a:prstGeom>
          <a:solidFill>
            <a:srgbClr val="16211C"/>
          </a:solidFill>
          <a:ln w="9525">
            <a:solidFill>
              <a:srgbClr val="27352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53912" y="33101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9B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6501384" y="331927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D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1250" dirty="0"/>
          </a:p>
        </p:txBody>
      </p:sp>
      <p:sp>
        <p:nvSpPr>
          <p:cNvPr id="80" name="Text 78"/>
          <p:cNvSpPr/>
          <p:nvPr/>
        </p:nvSpPr>
        <p:spPr>
          <a:xfrm>
            <a:off x="6153912" y="367588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parametric + CMIP6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4544568" y="4681728"/>
            <a:ext cx="1426464" cy="731520"/>
          </a:xfrm>
          <a:prstGeom prst="roundRect">
            <a:avLst>
              <a:gd name="adj" fmla="val 6875"/>
            </a:avLst>
          </a:prstGeom>
          <a:solidFill>
            <a:srgbClr val="16211C"/>
          </a:solidFill>
          <a:ln w="9525">
            <a:solidFill>
              <a:srgbClr val="27352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672584" y="47914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9B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5020056" y="480060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D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250" dirty="0"/>
          </a:p>
        </p:txBody>
      </p:sp>
      <p:sp>
        <p:nvSpPr>
          <p:cNvPr id="84" name="Text 82"/>
          <p:cNvSpPr/>
          <p:nvPr/>
        </p:nvSpPr>
        <p:spPr>
          <a:xfrm>
            <a:off x="4672584" y="515721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· adapt · file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3337560" y="55504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i="1" dirty="0">
                <a:solidFill>
                  <a:srgbClr val="63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Any-Address engine · Calibration &amp; Grades A–E · Projections · Reference Resolver</a:t>
            </a:r>
            <a:endParaRPr lang="en-US" sz="690" dirty="0"/>
          </a:p>
        </p:txBody>
      </p:sp>
      <p:sp>
        <p:nvSpPr>
          <p:cNvPr id="86" name="Shape 84"/>
          <p:cNvSpPr/>
          <p:nvPr/>
        </p:nvSpPr>
        <p:spPr>
          <a:xfrm>
            <a:off x="7470648" y="3566160"/>
            <a:ext cx="201168" cy="0"/>
          </a:xfrm>
          <a:prstGeom prst="line">
            <a:avLst/>
          </a:prstGeom>
          <a:noFill/>
          <a:ln w="15240">
            <a:solidFill>
              <a:srgbClr val="C7A24C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7671816" y="3054096"/>
            <a:ext cx="1024128" cy="1024128"/>
          </a:xfrm>
          <a:prstGeom prst="ellipse">
            <a:avLst/>
          </a:prstGeom>
          <a:solidFill>
            <a:srgbClr val="241E10"/>
          </a:solidFill>
          <a:ln w="19050">
            <a:solidFill>
              <a:srgbClr val="C7A24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671816" y="325526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spc="50" kern="0" dirty="0">
                <a:solidFill>
                  <a:srgbClr val="C7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HONESTY GATE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7671816" y="343814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DF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≥ 0.40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7671816" y="3712464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0" i="1" dirty="0">
                <a:solidFill>
                  <a:srgbClr val="63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publish standard</a:t>
            </a:r>
            <a:endParaRPr lang="en-US" sz="640" dirty="0"/>
          </a:p>
        </p:txBody>
      </p:sp>
      <p:sp>
        <p:nvSpPr>
          <p:cNvPr id="91" name="Shape 89"/>
          <p:cNvSpPr/>
          <p:nvPr/>
        </p:nvSpPr>
        <p:spPr>
          <a:xfrm flipV="1">
            <a:off x="8641080" y="1828800"/>
            <a:ext cx="45720" cy="1444752"/>
          </a:xfrm>
          <a:prstGeom prst="line">
            <a:avLst/>
          </a:prstGeom>
          <a:noFill/>
          <a:ln w="12700">
            <a:solidFill>
              <a:srgbClr val="79B79B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8641080" y="3858768"/>
            <a:ext cx="45720" cy="1444752"/>
          </a:xfrm>
          <a:prstGeom prst="line">
            <a:avLst/>
          </a:prstGeom>
          <a:noFill/>
          <a:ln w="12700">
            <a:solidFill>
              <a:srgbClr val="C7A24C"/>
            </a:solidFill>
            <a:prstDash val="solid"/>
            <a:tailEnd type="triangle"/>
          </a:ln>
        </p:spPr>
      </p:sp>
      <p:sp>
        <p:nvSpPr>
          <p:cNvPr id="93" name="Text 91"/>
          <p:cNvSpPr/>
          <p:nvPr/>
        </p:nvSpPr>
        <p:spPr>
          <a:xfrm>
            <a:off x="8796528" y="1371600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150" kern="0" dirty="0">
                <a:solidFill>
                  <a:srgbClr val="79B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 — RUN THE BUSINESS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8796528" y="16824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ED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</a:t>
            </a:r>
            <a:endParaRPr lang="en-US" sz="920" dirty="0"/>
          </a:p>
        </p:txBody>
      </p:sp>
      <p:sp>
        <p:nvSpPr>
          <p:cNvPr id="95" name="Text 93"/>
          <p:cNvSpPr/>
          <p:nvPr/>
        </p:nvSpPr>
        <p:spPr>
          <a:xfrm>
            <a:off x="10122408" y="1682496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flagship · supply-chain € at risk</a:t>
            </a:r>
            <a:endParaRPr lang="en-US" sz="740" dirty="0"/>
          </a:p>
        </p:txBody>
      </p:sp>
      <p:sp>
        <p:nvSpPr>
          <p:cNvPr id="96" name="Shape 94"/>
          <p:cNvSpPr/>
          <p:nvPr/>
        </p:nvSpPr>
        <p:spPr>
          <a:xfrm>
            <a:off x="8796528" y="1965960"/>
            <a:ext cx="2889504" cy="0"/>
          </a:xfrm>
          <a:prstGeom prst="line">
            <a:avLst/>
          </a:prstGeom>
          <a:noFill/>
          <a:ln w="9525">
            <a:solidFill>
              <a:srgbClr val="27352E"/>
            </a:solidFill>
            <a:prstDash val="solid"/>
            <a:tailEnd type="none"/>
          </a:ln>
        </p:spPr>
      </p:sp>
      <p:sp>
        <p:nvSpPr>
          <p:cNvPr id="97" name="Text 95"/>
          <p:cNvSpPr/>
          <p:nvPr/>
        </p:nvSpPr>
        <p:spPr>
          <a:xfrm>
            <a:off x="8796528" y="20482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ED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</a:t>
            </a:r>
            <a:endParaRPr lang="en-US" sz="920" dirty="0"/>
          </a:p>
        </p:txBody>
      </p:sp>
      <p:sp>
        <p:nvSpPr>
          <p:cNvPr id="98" name="Text 96"/>
          <p:cNvSpPr/>
          <p:nvPr/>
        </p:nvSpPr>
        <p:spPr>
          <a:xfrm>
            <a:off x="10122408" y="2048256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financed physical risk</a:t>
            </a:r>
            <a:endParaRPr lang="en-US" sz="740" dirty="0"/>
          </a:p>
        </p:txBody>
      </p:sp>
      <p:sp>
        <p:nvSpPr>
          <p:cNvPr id="99" name="Shape 97"/>
          <p:cNvSpPr/>
          <p:nvPr/>
        </p:nvSpPr>
        <p:spPr>
          <a:xfrm>
            <a:off x="8796528" y="2331720"/>
            <a:ext cx="2889504" cy="0"/>
          </a:xfrm>
          <a:prstGeom prst="line">
            <a:avLst/>
          </a:prstGeom>
          <a:noFill/>
          <a:ln w="9525">
            <a:solidFill>
              <a:srgbClr val="27352E"/>
            </a:solidFill>
            <a:prstDash val="solid"/>
            <a:tailEnd type="none"/>
          </a:ln>
        </p:spPr>
      </p:sp>
      <p:sp>
        <p:nvSpPr>
          <p:cNvPr id="100" name="Text 98"/>
          <p:cNvSpPr/>
          <p:nvPr/>
        </p:nvSpPr>
        <p:spPr>
          <a:xfrm>
            <a:off x="8796528" y="24140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ED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</a:t>
            </a:r>
            <a:endParaRPr lang="en-US" sz="920" dirty="0"/>
          </a:p>
        </p:txBody>
      </p:sp>
      <p:sp>
        <p:nvSpPr>
          <p:cNvPr id="101" name="Text 99"/>
          <p:cNvSpPr/>
          <p:nvPr/>
        </p:nvSpPr>
        <p:spPr>
          <a:xfrm>
            <a:off x="10122408" y="2414016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 · claims exposure</a:t>
            </a:r>
            <a:endParaRPr lang="en-US" sz="740" dirty="0"/>
          </a:p>
        </p:txBody>
      </p:sp>
      <p:sp>
        <p:nvSpPr>
          <p:cNvPr id="102" name="Shape 100"/>
          <p:cNvSpPr/>
          <p:nvPr/>
        </p:nvSpPr>
        <p:spPr>
          <a:xfrm>
            <a:off x="8796528" y="2697480"/>
            <a:ext cx="2889504" cy="0"/>
          </a:xfrm>
          <a:prstGeom prst="line">
            <a:avLst/>
          </a:prstGeom>
          <a:noFill/>
          <a:ln w="9525">
            <a:solidFill>
              <a:srgbClr val="27352E"/>
            </a:solidFill>
            <a:prstDash val="solid"/>
            <a:tailEnd type="none"/>
          </a:ln>
        </p:spPr>
      </p:sp>
      <p:sp>
        <p:nvSpPr>
          <p:cNvPr id="103" name="Text 101"/>
          <p:cNvSpPr/>
          <p:nvPr/>
        </p:nvSpPr>
        <p:spPr>
          <a:xfrm>
            <a:off x="8796528" y="277977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ED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management</a:t>
            </a:r>
            <a:endParaRPr lang="en-US" sz="920" dirty="0"/>
          </a:p>
        </p:txBody>
      </p:sp>
      <p:sp>
        <p:nvSpPr>
          <p:cNvPr id="104" name="Text 102"/>
          <p:cNvSpPr/>
          <p:nvPr/>
        </p:nvSpPr>
        <p:spPr>
          <a:xfrm>
            <a:off x="10122408" y="2779776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SFDR PAI · Taxonomy</a:t>
            </a:r>
            <a:endParaRPr lang="en-US" sz="740" dirty="0"/>
          </a:p>
        </p:txBody>
      </p:sp>
      <p:sp>
        <p:nvSpPr>
          <p:cNvPr id="105" name="Shape 103"/>
          <p:cNvSpPr/>
          <p:nvPr/>
        </p:nvSpPr>
        <p:spPr>
          <a:xfrm>
            <a:off x="8796528" y="3063240"/>
            <a:ext cx="2889504" cy="0"/>
          </a:xfrm>
          <a:prstGeom prst="line">
            <a:avLst/>
          </a:prstGeom>
          <a:noFill/>
          <a:ln w="9525">
            <a:solidFill>
              <a:srgbClr val="27352E"/>
            </a:solidFill>
            <a:prstDash val="solid"/>
            <a:tailEnd type="none"/>
          </a:ln>
        </p:spPr>
      </p:sp>
      <p:sp>
        <p:nvSpPr>
          <p:cNvPr id="106" name="Text 104"/>
          <p:cNvSpPr/>
          <p:nvPr/>
        </p:nvSpPr>
        <p:spPr>
          <a:xfrm>
            <a:off x="8796528" y="314553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ED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</a:t>
            </a:r>
            <a:endParaRPr lang="en-US" sz="920" dirty="0"/>
          </a:p>
        </p:txBody>
      </p:sp>
      <p:sp>
        <p:nvSpPr>
          <p:cNvPr id="107" name="Text 105"/>
          <p:cNvSpPr/>
          <p:nvPr/>
        </p:nvSpPr>
        <p:spPr>
          <a:xfrm>
            <a:off x="10122408" y="3145536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asset-level hazard</a:t>
            </a:r>
            <a:endParaRPr lang="en-US" sz="740" dirty="0"/>
          </a:p>
        </p:txBody>
      </p:sp>
      <p:sp>
        <p:nvSpPr>
          <p:cNvPr id="108" name="Shape 106"/>
          <p:cNvSpPr/>
          <p:nvPr/>
        </p:nvSpPr>
        <p:spPr>
          <a:xfrm>
            <a:off x="8796528" y="3429000"/>
            <a:ext cx="2889504" cy="0"/>
          </a:xfrm>
          <a:prstGeom prst="line">
            <a:avLst/>
          </a:prstGeom>
          <a:noFill/>
          <a:ln w="9525">
            <a:solidFill>
              <a:srgbClr val="27352E"/>
            </a:solidFill>
            <a:prstDash val="solid"/>
            <a:tailEnd type="none"/>
          </a:ln>
        </p:spPr>
      </p:sp>
      <p:sp>
        <p:nvSpPr>
          <p:cNvPr id="109" name="Text 107"/>
          <p:cNvSpPr/>
          <p:nvPr/>
        </p:nvSpPr>
        <p:spPr>
          <a:xfrm>
            <a:off x="8796528" y="3584448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150" kern="0" dirty="0">
                <a:solidFill>
                  <a:srgbClr val="C7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COMPLY — SATISFY THE LAW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8796528" y="389534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ED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CSRD · ESRS</a:t>
            </a:r>
            <a:endParaRPr lang="en-US" sz="920" dirty="0"/>
          </a:p>
        </p:txBody>
      </p:sp>
      <p:sp>
        <p:nvSpPr>
          <p:cNvPr id="111" name="Text 109"/>
          <p:cNvSpPr/>
          <p:nvPr/>
        </p:nvSpPr>
        <p:spPr>
          <a:xfrm>
            <a:off x="10122408" y="3895344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 · E3 · E4 physical</a:t>
            </a:r>
            <a:endParaRPr lang="en-US" sz="740" dirty="0"/>
          </a:p>
        </p:txBody>
      </p:sp>
      <p:sp>
        <p:nvSpPr>
          <p:cNvPr id="112" name="Shape 110"/>
          <p:cNvSpPr/>
          <p:nvPr/>
        </p:nvSpPr>
        <p:spPr>
          <a:xfrm>
            <a:off x="8796528" y="4178808"/>
            <a:ext cx="2889504" cy="0"/>
          </a:xfrm>
          <a:prstGeom prst="line">
            <a:avLst/>
          </a:prstGeom>
          <a:noFill/>
          <a:ln w="9525">
            <a:solidFill>
              <a:srgbClr val="27352E"/>
            </a:solidFill>
            <a:prstDash val="solid"/>
            <a:tailEnd type="none"/>
          </a:ln>
        </p:spPr>
      </p:sp>
      <p:sp>
        <p:nvSpPr>
          <p:cNvPr id="113" name="Text 111"/>
          <p:cNvSpPr/>
          <p:nvPr/>
        </p:nvSpPr>
        <p:spPr>
          <a:xfrm>
            <a:off x="8796528" y="42611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ED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Taxonomy</a:t>
            </a:r>
            <a:endParaRPr lang="en-US" sz="920" dirty="0"/>
          </a:p>
        </p:txBody>
      </p:sp>
      <p:sp>
        <p:nvSpPr>
          <p:cNvPr id="114" name="Text 112"/>
          <p:cNvSpPr/>
          <p:nvPr/>
        </p:nvSpPr>
        <p:spPr>
          <a:xfrm>
            <a:off x="10122408" y="4261104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8 adaptation</a:t>
            </a:r>
            <a:endParaRPr lang="en-US" sz="740" dirty="0"/>
          </a:p>
        </p:txBody>
      </p:sp>
      <p:sp>
        <p:nvSpPr>
          <p:cNvPr id="115" name="Shape 113"/>
          <p:cNvSpPr/>
          <p:nvPr/>
        </p:nvSpPr>
        <p:spPr>
          <a:xfrm>
            <a:off x="8796528" y="4544568"/>
            <a:ext cx="2889504" cy="0"/>
          </a:xfrm>
          <a:prstGeom prst="line">
            <a:avLst/>
          </a:prstGeom>
          <a:noFill/>
          <a:ln w="9525">
            <a:solidFill>
              <a:srgbClr val="27352E"/>
            </a:solidFill>
            <a:prstDash val="solid"/>
            <a:tailEnd type="none"/>
          </a:ln>
        </p:spPr>
      </p:sp>
      <p:sp>
        <p:nvSpPr>
          <p:cNvPr id="116" name="Text 114"/>
          <p:cNvSpPr/>
          <p:nvPr/>
        </p:nvSpPr>
        <p:spPr>
          <a:xfrm>
            <a:off x="8796528" y="46268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ED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EUDR</a:t>
            </a:r>
            <a:endParaRPr lang="en-US" sz="920" dirty="0"/>
          </a:p>
        </p:txBody>
      </p:sp>
      <p:sp>
        <p:nvSpPr>
          <p:cNvPr id="117" name="Text 115"/>
          <p:cNvSpPr/>
          <p:nvPr/>
        </p:nvSpPr>
        <p:spPr>
          <a:xfrm>
            <a:off x="10122408" y="4626864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per-plot DDS → TRACES</a:t>
            </a:r>
            <a:endParaRPr lang="en-US" sz="740" dirty="0"/>
          </a:p>
        </p:txBody>
      </p:sp>
      <p:sp>
        <p:nvSpPr>
          <p:cNvPr id="118" name="Shape 116"/>
          <p:cNvSpPr/>
          <p:nvPr/>
        </p:nvSpPr>
        <p:spPr>
          <a:xfrm>
            <a:off x="8796528" y="4910328"/>
            <a:ext cx="2889504" cy="0"/>
          </a:xfrm>
          <a:prstGeom prst="line">
            <a:avLst/>
          </a:prstGeom>
          <a:noFill/>
          <a:ln w="9525">
            <a:solidFill>
              <a:srgbClr val="27352E"/>
            </a:solidFill>
            <a:prstDash val="solid"/>
            <a:tailEnd type="none"/>
          </a:ln>
        </p:spPr>
      </p:sp>
      <p:sp>
        <p:nvSpPr>
          <p:cNvPr id="119" name="Text 117"/>
          <p:cNvSpPr/>
          <p:nvPr/>
        </p:nvSpPr>
        <p:spPr>
          <a:xfrm>
            <a:off x="8796528" y="499262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ED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SFDR · PAI</a:t>
            </a:r>
            <a:endParaRPr lang="en-US" sz="920" dirty="0"/>
          </a:p>
        </p:txBody>
      </p:sp>
      <p:sp>
        <p:nvSpPr>
          <p:cNvPr id="120" name="Text 118"/>
          <p:cNvSpPr/>
          <p:nvPr/>
        </p:nvSpPr>
        <p:spPr>
          <a:xfrm>
            <a:off x="10122408" y="4992624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verticals</a:t>
            </a:r>
            <a:endParaRPr lang="en-US" sz="740" dirty="0"/>
          </a:p>
        </p:txBody>
      </p:sp>
      <p:sp>
        <p:nvSpPr>
          <p:cNvPr id="121" name="Shape 119"/>
          <p:cNvSpPr/>
          <p:nvPr/>
        </p:nvSpPr>
        <p:spPr>
          <a:xfrm>
            <a:off x="8796528" y="5276088"/>
            <a:ext cx="2889504" cy="0"/>
          </a:xfrm>
          <a:prstGeom prst="line">
            <a:avLst/>
          </a:prstGeom>
          <a:noFill/>
          <a:ln w="9525">
            <a:solidFill>
              <a:srgbClr val="27352E"/>
            </a:solidFill>
            <a:prstDash val="solid"/>
            <a:tailEnd type="none"/>
          </a:ln>
        </p:spPr>
      </p:sp>
      <p:sp>
        <p:nvSpPr>
          <p:cNvPr id="122" name="Text 120"/>
          <p:cNvSpPr/>
          <p:nvPr/>
        </p:nvSpPr>
        <p:spPr>
          <a:xfrm>
            <a:off x="8796528" y="53583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ED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iXBRL · Assurance</a:t>
            </a:r>
            <a:endParaRPr lang="en-US" sz="920" dirty="0"/>
          </a:p>
        </p:txBody>
      </p:sp>
      <p:sp>
        <p:nvSpPr>
          <p:cNvPr id="123" name="Text 121"/>
          <p:cNvSpPr/>
          <p:nvPr/>
        </p:nvSpPr>
        <p:spPr>
          <a:xfrm>
            <a:off x="10122408" y="5358384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i="1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ESEF filing · evidence pack</a:t>
            </a:r>
            <a:endParaRPr lang="en-US" sz="740" dirty="0"/>
          </a:p>
        </p:txBody>
      </p:sp>
      <p:sp>
        <p:nvSpPr>
          <p:cNvPr id="124" name="Shape 122"/>
          <p:cNvSpPr/>
          <p:nvPr/>
        </p:nvSpPr>
        <p:spPr>
          <a:xfrm>
            <a:off x="8796528" y="5641848"/>
            <a:ext cx="2889504" cy="0"/>
          </a:xfrm>
          <a:prstGeom prst="line">
            <a:avLst/>
          </a:prstGeom>
          <a:noFill/>
          <a:ln w="9525">
            <a:solidFill>
              <a:srgbClr val="27352E"/>
            </a:solidFill>
            <a:prstDash val="solid"/>
            <a:tailEnd type="none"/>
          </a:ln>
        </p:spPr>
      </p:sp>
      <p:sp>
        <p:nvSpPr>
          <p:cNvPr id="125" name="Text 123"/>
          <p:cNvSpPr/>
          <p:nvPr/>
        </p:nvSpPr>
        <p:spPr>
          <a:xfrm>
            <a:off x="8796528" y="5797296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i="1" dirty="0">
                <a:solidFill>
                  <a:srgbClr val="ED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the regulator verifies the same truth</a:t>
            </a:r>
            <a:pPr algn="l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C7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next</a:t>
            </a:r>
            <a:endParaRPr lang="en-US" sz="760" dirty="0"/>
          </a:p>
        </p:txBody>
      </p:sp>
      <p:sp>
        <p:nvSpPr>
          <p:cNvPr id="126" name="Shape 124"/>
          <p:cNvSpPr/>
          <p:nvPr/>
        </p:nvSpPr>
        <p:spPr>
          <a:xfrm>
            <a:off x="502920" y="6089904"/>
            <a:ext cx="11183112" cy="0"/>
          </a:xfrm>
          <a:prstGeom prst="line">
            <a:avLst/>
          </a:prstGeom>
          <a:noFill/>
          <a:ln w="12700">
            <a:solidFill>
              <a:srgbClr val="27352E"/>
            </a:solidFill>
            <a:prstDash val="solid"/>
            <a:tailEnd type="none"/>
          </a:ln>
        </p:spPr>
      </p:sp>
      <p:sp>
        <p:nvSpPr>
          <p:cNvPr id="127" name="Text 125"/>
          <p:cNvSpPr/>
          <p:nvPr/>
        </p:nvSpPr>
        <p:spPr>
          <a:xfrm>
            <a:off x="502920" y="6199632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50" kern="0" dirty="0">
                <a:solidFill>
                  <a:srgbClr val="79B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END-TO-END   </a:t>
            </a:r>
            <a:pPr algn="l" indent="0" marL="0">
              <a:lnSpc>
                <a:spcPct val="100000"/>
              </a:lnSpc>
              <a:buNone/>
            </a:pPr>
            <a:r>
              <a:rPr lang="en-US" sz="800" spc="50" kern="0" dirty="0">
                <a:solidFill>
                  <a:srgbClr val="93A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· four-eyes approvals · immutable report snapshots · full audit trail · configurable reporting basis</a:t>
            </a:r>
            <a:endParaRPr lang="en-US" sz="800" dirty="0"/>
          </a:p>
        </p:txBody>
      </p:sp>
      <p:sp>
        <p:nvSpPr>
          <p:cNvPr id="128" name="Text 126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200" kern="0" dirty="0">
                <a:solidFill>
                  <a:srgbClr val="63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TELLUMEN</a:t>
            </a:r>
            <a:endParaRPr lang="en-US" sz="750" dirty="0"/>
          </a:p>
        </p:txBody>
      </p:sp>
      <p:sp>
        <p:nvSpPr>
          <p:cNvPr id="129" name="Text 127"/>
          <p:cNvSpPr/>
          <p:nvPr/>
        </p:nvSpPr>
        <p:spPr>
          <a:xfrm>
            <a:off x="7315200" y="6510528"/>
            <a:ext cx="4370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spc="200" kern="0" dirty="0">
                <a:solidFill>
                  <a:srgbClr val="637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2026-07-31T08:58:18Z</dcterms:created>
  <dcterms:modified xsi:type="dcterms:W3CDTF">2026-07-31T08:58:18Z</dcterms:modified>
</cp:coreProperties>
</file>